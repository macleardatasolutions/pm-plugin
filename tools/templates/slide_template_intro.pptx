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8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88952" cy="109728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ptos Display"/>
              </a:rPr>
              <a:t>Website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DD7EE"/>
                </a:solidFill>
                <a:latin typeface="Aptos Display"/>
              </a:rPr>
              <a:t>Project 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2286000" cy="54864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4761"/>
                </a:solidFill>
                <a:latin typeface="Aptos"/>
              </a:rPr>
              <a:t>Yujia Yao, Data Scientist   |   Maclear   |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0A0"/>
                </a:solidFill>
                <a:latin typeface="Aptos"/>
              </a:rPr>
              <a:t>Confidential —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Why This Project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Business problem and strategic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Aptos"/>
              </a:rPr>
              <a:t>  •  Current website contains outdated and inaccurate content with no reliable update process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Aptos"/>
              </a:rPr>
              <a:t>  •  Manual updates risk inconsistency, formatting damage, and unauthorized content changes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Aptos"/>
              </a:rPr>
              <a:t>  •  A reusable update pipeline will improve SEO, increase customer engagement, and reduce operational risk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Aptos"/>
              </a:rPr>
              <a:t>  •  Prevents outdated or unsupported content from remaining on the live site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Aptos"/>
              </a:rPr>
              <a:t>  •  Supports Maclear's commitment to precision, transparency, and controlled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Scope and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What is — and is not — included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577840" cy="34747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577840" cy="347472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Aptos Display"/>
              </a:rPr>
              <a:t>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92808"/>
            <a:ext cx="5577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  <a:latin typeface="Aptos"/>
              </a:rPr>
              <a:t>  •  Review current website content — identify outdated sections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  <a:latin typeface="Aptos"/>
              </a:rPr>
              <a:t>  •  Confirm approved replacement content with client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  <a:latin typeface="Aptos"/>
              </a:rPr>
              <a:t>  •  Build reusable content-update pipeline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  <a:latin typeface="Aptos"/>
              </a:rPr>
              <a:t>  •  Test pipeline in staging environment before any live change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  <a:latin typeface="Aptos"/>
              </a:rPr>
              <a:t>  •  Apply approved updates to live website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  <a:latin typeface="Aptos"/>
              </a:rPr>
              <a:t>  •  Document pipeline for future update cycles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892808"/>
            <a:ext cx="5577840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606060"/>
                </a:solidFill>
                <a:latin typeface="Aptos"/>
              </a:rPr>
              <a:t>  •  Creating original content (LLM cannot generate beyond approved source)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606060"/>
                </a:solidFill>
                <a:latin typeface="Aptos"/>
              </a:rPr>
              <a:t>  •  New website functionality or features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606060"/>
                </a:solidFill>
                <a:latin typeface="Aptos"/>
              </a:rPr>
              <a:t>  •  Website redesign or restyling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606060"/>
                </a:solidFill>
                <a:latin typeface="Aptos"/>
              </a:rPr>
              <a:t>  •  Modifying content that is already approved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606060"/>
                </a:solidFill>
                <a:latin typeface="Aptos"/>
              </a:rPr>
              <a:t>  •  Unrelated technical changes to the website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Acceptance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 dirty="0">
                <a:solidFill>
                  <a:srgbClr val="1A1A1A"/>
                </a:solidFill>
                <a:latin typeface="Aptos"/>
              </a:rPr>
              <a:t>  ✔  Pipeline updates content accurately — zero hallucinated or unsupported output</a:t>
            </a:r>
          </a:p>
          <a:p>
            <a:pPr>
              <a:spcBef>
                <a:spcPts val="300"/>
              </a:spcBef>
            </a:pPr>
            <a:r>
              <a:rPr sz="1600" dirty="0">
                <a:solidFill>
                  <a:srgbClr val="1A1A1A"/>
                </a:solidFill>
                <a:latin typeface="Aptos"/>
              </a:rPr>
              <a:t>  ✔  Approved existing content is fully preserved after every update</a:t>
            </a:r>
          </a:p>
          <a:p>
            <a:pPr>
              <a:spcBef>
                <a:spcPts val="300"/>
              </a:spcBef>
            </a:pPr>
            <a:r>
              <a:rPr sz="1600" dirty="0">
                <a:solidFill>
                  <a:srgbClr val="1A1A1A"/>
                </a:solidFill>
                <a:latin typeface="Aptos"/>
              </a:rPr>
              <a:t>  ✔  Formatting and page structure are intact post-update</a:t>
            </a:r>
          </a:p>
          <a:p>
            <a:pPr>
              <a:spcBef>
                <a:spcPts val="300"/>
              </a:spcBef>
            </a:pPr>
            <a:r>
              <a:rPr sz="1600" dirty="0">
                <a:solidFill>
                  <a:srgbClr val="1A1A1A"/>
                </a:solidFill>
                <a:latin typeface="Aptos"/>
              </a:rPr>
              <a:t>  ✔  No update reaches the live site without explicit written approval</a:t>
            </a:r>
          </a:p>
          <a:p>
            <a:pPr>
              <a:spcBef>
                <a:spcPts val="300"/>
              </a:spcBef>
            </a:pPr>
            <a:r>
              <a:rPr sz="1600" dirty="0">
                <a:solidFill>
                  <a:srgbClr val="1A1A1A"/>
                </a:solidFill>
                <a:latin typeface="Aptos"/>
              </a:rPr>
              <a:t>  ✔  Pipeline is reusable and documented for future update cycles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77840"/>
            <a:ext cx="11247120" cy="50292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F5000"/>
                </a:solidFill>
                <a:latin typeface="Aptos"/>
              </a:rPr>
              <a:t>Mandatory constraint: LLM must not generate new content beyond the approved source material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Apr 1 – Jun 1, 2026   |   Estimated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47120" cy="512064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636776"/>
            <a:ext cx="1574596" cy="34747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673352"/>
            <a:ext cx="14831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Phase 1: Initiation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4948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Aptos"/>
              </a:rPr>
              <a:t>Apr 1–7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66544"/>
            <a:ext cx="11247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1012240" cy="347472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185416"/>
            <a:ext cx="92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  <a:latin typeface="Aptos"/>
              </a:rPr>
              <a:t>Phase 2: Content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2592" y="2203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Aptos"/>
              </a:rPr>
              <a:t>Apr 2–6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78608"/>
            <a:ext cx="11247120" cy="512064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31796" y="2660904"/>
            <a:ext cx="4498848" cy="347472"/>
          </a:xfrm>
          <a:prstGeom prst="rect">
            <a:avLst/>
          </a:prstGeom>
          <a:solidFill>
            <a:srgbClr val="1F6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4948" y="2697480"/>
            <a:ext cx="4407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Phase 3: Pipeline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3796" y="2715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Aptos"/>
              </a:rPr>
              <a:t>Apr 8–24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90672"/>
            <a:ext cx="11247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30644" y="3172968"/>
            <a:ext cx="1574596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3796" y="3209544"/>
            <a:ext cx="14831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Phase 4: Testing &amp;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8393" y="32278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Aptos"/>
              </a:rPr>
              <a:t>Apr 27–May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02736"/>
            <a:ext cx="11247120" cy="512064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05241" y="3685032"/>
            <a:ext cx="1349654" cy="347472"/>
          </a:xfrm>
          <a:prstGeom prst="rect">
            <a:avLst/>
          </a:prstGeom>
          <a:solidFill>
            <a:srgbClr val="26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78393" y="3721608"/>
            <a:ext cx="125821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Phase 5: Review &amp;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37398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Aptos"/>
              </a:rPr>
              <a:t>May 4–8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1124712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54896" y="4197096"/>
            <a:ext cx="1237183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28048" y="4233672"/>
            <a:ext cx="11457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Phase 6: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5231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Aptos"/>
              </a:rPr>
              <a:t>May 11–14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26864"/>
            <a:ext cx="11247120" cy="512064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30644" y="4709160"/>
            <a:ext cx="3599078" cy="347472"/>
          </a:xfrm>
          <a:prstGeom prst="rect">
            <a:avLst/>
          </a:prstGeom>
          <a:solidFill>
            <a:srgbClr val="4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3796" y="4745736"/>
            <a:ext cx="350763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Phase 7: Docs &amp; Closeout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2875" y="4764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0A0"/>
                </a:solidFill>
                <a:latin typeface="Aptos"/>
              </a:rPr>
              <a:t>Apr 27–May 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42655" y="1508760"/>
            <a:ext cx="36576" cy="36301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14055" y="1143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F5000"/>
                </a:solidFill>
                <a:latin typeface="Aptos"/>
              </a:rPr>
              <a:t>TODAY
May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A0A0"/>
                </a:solidFill>
                <a:latin typeface="Aptos"/>
              </a:rPr>
              <a:t>Start: Apr 1, 2026   |   Prototype target: Apr 24   |   Approval gate: May 8   |   Live update: May 12   |   Close: May 15 (Hard deadline: Jun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Key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Four critical checkpoints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811780" cy="7772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Milestone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8980" y="1600200"/>
            <a:ext cx="2811780" cy="7772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4700" y="1645920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Target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600200"/>
            <a:ext cx="2811780" cy="7772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645920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2540" y="1600200"/>
            <a:ext cx="2811780" cy="7772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38260" y="1645920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7744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41401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Prototype (pipeline v1) released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8980" y="237744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4700" y="241401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Apr 24,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37744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41401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Yujia Yao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2540" y="237744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92540" y="2377440"/>
            <a:ext cx="2811780" cy="777240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38260" y="241401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0000"/>
                </a:solidFill>
                <a:latin typeface="Aptos"/>
              </a:rPr>
              <a:t>At risk — confirm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5468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19125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Approval to deploy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68980" y="315468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4700" y="319125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May 8,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15468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319125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Jesus Calderon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92540" y="315468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38260" y="319125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Not started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3192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96849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Live website updated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8980" y="393192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14700" y="396849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May 12, 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93192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396849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Yujia Yao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92540" y="3931920"/>
            <a:ext cx="2811780" cy="77724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38260" y="396849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0916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74573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Project complete (hard deadline)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68980" y="470916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14700" y="474573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Jun 1, 2026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70916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0" y="474573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Jesus Calderon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92540" y="4709160"/>
            <a:ext cx="28117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38260" y="4745736"/>
            <a:ext cx="27203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Not started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0000"/>
                </a:solidFill>
                <a:latin typeface="Aptos"/>
              </a:rPr>
              <a:t>M1 is flagged At risk: the Apr 24 target has passed as of today (May 7). Confirm actual pipeline status before re-baselining.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Workstreams and Task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7 phases | 16 tasks | single executor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880360" cy="62179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880360" cy="62179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Key Tasks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508760"/>
            <a:ext cx="2880360" cy="62179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Est. Duration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508760"/>
            <a:ext cx="2880360" cy="62179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5544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30552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16712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1. Initiation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130552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216712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Kickoff, access setup, API permissions, content collection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130552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16712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~1 week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130552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16712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Confirm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52344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78892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2. Content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752344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46120" y="278892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Review current website; identify outdated sections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752344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278892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3 days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2752344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6840" y="278892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Confirm 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374136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410712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3. Pipeline Dev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374136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46120" y="3410712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Architecture design, pipeline build, staging environment setup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374136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3410712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~3 weeks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3374136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6840" y="3410712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Confirm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95928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4032504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4. Testing &amp; QA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3995928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46120" y="4032504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Staging tests: accuracy, formatting, approval workflow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3995928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4032504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1 week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3995928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06840" y="4032504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Confirm status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617720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4654296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5. Review &amp; Approval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617720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46120" y="4654296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Owner review of proposed changes + written approval gate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4617720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4654296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1 week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4617720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06840" y="4654296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Not started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239512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527608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6. Deployment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5239512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46120" y="527608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Live update + post-deployment verification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5239512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26480" y="527608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4 days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5239512"/>
            <a:ext cx="28803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06840" y="5276088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Not started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861304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58978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7. Docs &amp; Closeout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5861304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46120" y="58978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Pipeline documentation + final sign-off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80760" y="5861304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126480" y="58978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3 days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20" y="5861304"/>
            <a:ext cx="2880360" cy="62179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06840" y="5897880"/>
            <a:ext cx="2788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Not started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4761"/>
                </a:solidFill>
                <a:latin typeface="Aptos"/>
              </a:rPr>
              <a:t>Total tasks: 16  +  4 milestones   |   Single resource: Yujia Yao (full-time Mon–Fri)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Roles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Who does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880360" cy="71323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880360" cy="71323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Person /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508760"/>
            <a:ext cx="2880360" cy="71323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Responsibilities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508760"/>
            <a:ext cx="2880360" cy="713232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55448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21992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258568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Project Lead / Developer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21992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2258568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Yujia Yao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221992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258568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All execution: audit, build, test, deploy, 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221992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258568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Full-time Mon–Fri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35224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97180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Decision-Maker / Approver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935224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46120" y="297180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Jesus Calderon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935224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297180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Scope, budget, schedule; two hard approval gates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2935224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6840" y="2971800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5000"/>
                </a:solidFill>
                <a:latin typeface="Aptos"/>
              </a:rPr>
              <a:t>TBD — confirm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648456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685032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Content Provider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648456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46120" y="3685032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Maclear / Alco Insights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648456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3685032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Deliver approved source content; confirm content package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3648456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6840" y="3685032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5000"/>
                </a:solidFill>
                <a:latin typeface="Aptos"/>
              </a:rPr>
              <a:t>External — TBD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361688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4398264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AI/API Services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361688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46120" y="4398264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OpenAI / Claude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4361688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4398264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LLM component of the content-update pipeline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4361688"/>
            <a:ext cx="28803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06840" y="4398264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Subject to license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074920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5111496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Final Approver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5074920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46120" y="5111496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5000"/>
                </a:solidFill>
                <a:latin typeface="Aptos"/>
              </a:rPr>
              <a:t>TBD — Not provided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5074920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5111496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Approve final deliverables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5074920"/>
            <a:ext cx="2880360" cy="713232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06840" y="5111496"/>
            <a:ext cx="2788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5000"/>
                </a:solidFill>
                <a:latin typeface="Aptos"/>
              </a:rPr>
              <a:t>TBD — confirm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0000"/>
                </a:solidFill>
                <a:latin typeface="Aptos"/>
              </a:rPr>
              <a:t>Risk: Yujia Yao is the sole executor. Any absence halts all project work. No current mitigation.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Key 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Top 5 risks — all rated High severity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Mitigation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27685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Client content not delivered on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227685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27685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27685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Confirm delivery date now; escalate if delayed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300837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LLM generates unsupported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46120" y="300837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300837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6840" y="300837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LLM reformats only — never generates new 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73989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Approved content overwritten by pipeline bug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46120" y="373989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373989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06840" y="373989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Pre/post diff review + approval gate before live deploy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447141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Approval gate delayed (Jesus Calderon)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46120" y="447141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447141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High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06840" y="447141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Set 2-day response expectation; escalate early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520293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Single-resource risk — Yujia Yao only executor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46120" y="520293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Medium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6480" y="520293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High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06840" y="5202936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ptos"/>
              </a:rPr>
              <a:t>Flag to Jesus Calderon — no current mitigation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Open Decisions and Confirmations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Items blocking schedule re-baseline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ptos"/>
              </a:rPr>
              <a:t>HIGH PRIORITY — must answer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dirty="0">
                <a:solidFill>
                  <a:srgbClr val="C00000"/>
                </a:solidFill>
                <a:latin typeface="Aptos"/>
              </a:rPr>
              <a:t>  ⚠  Actual task status as of today (May 7) — has the prototype been delivered?</a:t>
            </a:r>
          </a:p>
          <a:p>
            <a:pPr>
              <a:spcBef>
                <a:spcPts val="300"/>
              </a:spcBef>
            </a:pPr>
            <a:r>
              <a:rPr sz="1300" dirty="0">
                <a:solidFill>
                  <a:srgbClr val="C00000"/>
                </a:solidFill>
                <a:latin typeface="Aptos"/>
              </a:rPr>
              <a:t>  ⚠  Who is the final deliverable approver? (left blank in questionnaire)</a:t>
            </a:r>
          </a:p>
          <a:p>
            <a:pPr>
              <a:spcBef>
                <a:spcPts val="300"/>
              </a:spcBef>
            </a:pPr>
            <a:r>
              <a:rPr sz="1300" dirty="0">
                <a:solidFill>
                  <a:srgbClr val="C00000"/>
                </a:solidFill>
                <a:latin typeface="Aptos"/>
              </a:rPr>
              <a:t>  ⚠  Has approved source content been received from Maclear / Alco Insights?</a:t>
            </a:r>
          </a:p>
          <a:p>
            <a:pPr>
              <a:spcBef>
                <a:spcPts val="300"/>
              </a:spcBef>
            </a:pPr>
            <a:r>
              <a:rPr sz="1300" dirty="0">
                <a:solidFill>
                  <a:srgbClr val="C00000"/>
                </a:solidFill>
                <a:latin typeface="Aptos"/>
              </a:rPr>
              <a:t>  ⚠  Are website admin access and AI/API access confirmed?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77639"/>
            <a:ext cx="11521440" cy="32004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977639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MEDIUM PRIORITY — needed before pipeline build is finalized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dirty="0">
                <a:solidFill>
                  <a:srgbClr val="404040"/>
                </a:solidFill>
                <a:latin typeface="Aptos"/>
              </a:rPr>
              <a:t>  ●  Should automatic update functionality be in scope?</a:t>
            </a:r>
          </a:p>
          <a:p>
            <a:pPr>
              <a:spcBef>
                <a:spcPts val="300"/>
              </a:spcBef>
            </a:pPr>
            <a:r>
              <a:rPr sz="1300" dirty="0">
                <a:solidFill>
                  <a:srgbClr val="404040"/>
                </a:solidFill>
                <a:latin typeface="Aptos"/>
              </a:rPr>
              <a:t>  ●  Should style/design updates be included?</a:t>
            </a:r>
          </a:p>
          <a:p>
            <a:pPr>
              <a:spcBef>
                <a:spcPts val="300"/>
              </a:spcBef>
            </a:pPr>
            <a:r>
              <a:rPr sz="1300" dirty="0">
                <a:solidFill>
                  <a:srgbClr val="404040"/>
                </a:solidFill>
                <a:latin typeface="Aptos"/>
              </a:rPr>
              <a:t>  ●  How much automation vs. manual approval should the pipeline require?</a:t>
            </a:r>
          </a:p>
          <a:p>
            <a:pPr>
              <a:spcBef>
                <a:spcPts val="300"/>
              </a:spcBef>
            </a:pPr>
            <a:r>
              <a:rPr sz="1300" dirty="0">
                <a:solidFill>
                  <a:srgbClr val="404040"/>
                </a:solidFill>
                <a:latin typeface="Aptos"/>
              </a:rPr>
              <a:t>  ●  Confirmed budget ceiling (range given: $50–$5,000)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Actions for the week of May 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Aptos"/>
              </a:rPr>
              <a:t>Maclear | Website Update |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658368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682496"/>
            <a:ext cx="402336" cy="402336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8249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6420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Confirm current task status with Yujia Yao — update progress on all early tasks immediately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61320" y="1719072"/>
            <a:ext cx="1097280" cy="329184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61320" y="17190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This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31136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340864"/>
            <a:ext cx="402336" cy="402336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3408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22576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Confirm final deliverable approver with Jesus Calderon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61320" y="2377440"/>
            <a:ext cx="1097280" cy="329184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61320" y="237744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This week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89504"/>
            <a:ext cx="11521440" cy="658368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999232"/>
            <a:ext cx="402336" cy="402336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99923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80944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Confirm approved source content received from Maclear / Alco Insights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61320" y="3035808"/>
            <a:ext cx="1097280" cy="329184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61320" y="30358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This week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47872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402336" cy="402336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36576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639312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Confirm website access and AI/API access are secured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61320" y="3694176"/>
            <a:ext cx="1097280" cy="329184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61320" y="36941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This week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06240"/>
            <a:ext cx="11521440" cy="658368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65760" y="4315968"/>
            <a:ext cx="402336" cy="402336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31596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29768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Answer three open scope decisions: automation, design updates, approval 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61320" y="4352544"/>
            <a:ext cx="1097280" cy="329184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61320" y="435254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This week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864608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4974336"/>
            <a:ext cx="402336" cy="402336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97433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956048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Re-baseline the project schedule after confirming actual task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61320" y="5010912"/>
            <a:ext cx="1097280" cy="329184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61320" y="501091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A0A0"/>
                </a:solidFill>
                <a:latin typeface="Aptos"/>
              </a:rPr>
              <a:t>After steps 1–5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522976"/>
            <a:ext cx="11521440" cy="658368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65760" y="5632704"/>
            <a:ext cx="402336" cy="402336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56327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614416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ptos"/>
              </a:rPr>
              <a:t>Proceed to Gantt chart execution tracking with updated progress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61320" y="5669280"/>
            <a:ext cx="1097280" cy="329184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61320" y="566928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A0A0"/>
                </a:solidFill>
                <a:latin typeface="Aptos"/>
              </a:rPr>
              <a:t>After step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1149</Words>
  <Application>Microsoft Office PowerPoint</Application>
  <PresentationFormat>Custom</PresentationFormat>
  <Paragraphs>208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Yujia Yao</cp:lastModifiedBy>
  <cp:revision>1</cp:revision>
  <dcterms:created xsi:type="dcterms:W3CDTF">2013-01-27T09:14:16Z</dcterms:created>
  <dcterms:modified xsi:type="dcterms:W3CDTF">2026-05-07T20:26:00Z</dcterms:modified>
  <cp:category/>
</cp:coreProperties>
</file>